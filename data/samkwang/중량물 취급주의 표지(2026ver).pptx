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9"/>
  </p:notesMasterIdLst>
  <p:sldIdLst>
    <p:sldId id="262" r:id="rId2"/>
    <p:sldId id="259" r:id="rId3"/>
    <p:sldId id="274" r:id="rId4"/>
    <p:sldId id="273" r:id="rId5"/>
    <p:sldId id="270" r:id="rId6"/>
    <p:sldId id="256" r:id="rId7"/>
    <p:sldId id="275" r:id="rId8"/>
  </p:sldIdLst>
  <p:sldSz cx="6858000" cy="9906000" type="A4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BA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0" d="100"/>
          <a:sy n="80" d="100"/>
        </p:scale>
        <p:origin x="306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729693-B011-4C4A-A94E-284020358A12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216150" y="1233488"/>
            <a:ext cx="230346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100" y="4748213"/>
            <a:ext cx="5389563" cy="38846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52C7C3-EC78-4E7B-A504-12C73754E11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1982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82416-F2FD-4699-A97D-F80F67CF0260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49183-4437-4BFB-B06F-1C4E1F058A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7536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82416-F2FD-4699-A97D-F80F67CF0260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49183-4437-4BFB-B06F-1C4E1F058A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0820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82416-F2FD-4699-A97D-F80F67CF0260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49183-4437-4BFB-B06F-1C4E1F058A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5320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82416-F2FD-4699-A97D-F80F67CF0260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49183-4437-4BFB-B06F-1C4E1F058A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0288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82416-F2FD-4699-A97D-F80F67CF0260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49183-4437-4BFB-B06F-1C4E1F058A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2410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82416-F2FD-4699-A97D-F80F67CF0260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49183-4437-4BFB-B06F-1C4E1F058A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7976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82416-F2FD-4699-A97D-F80F67CF0260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49183-4437-4BFB-B06F-1C4E1F058A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7361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82416-F2FD-4699-A97D-F80F67CF0260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49183-4437-4BFB-B06F-1C4E1F058A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5140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82416-F2FD-4699-A97D-F80F67CF0260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49183-4437-4BFB-B06F-1C4E1F058A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9371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82416-F2FD-4699-A97D-F80F67CF0260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49183-4437-4BFB-B06F-1C4E1F058A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8816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82416-F2FD-4699-A97D-F80F67CF0260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49183-4437-4BFB-B06F-1C4E1F058A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6610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882416-F2FD-4699-A97D-F80F67CF0260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549183-4437-4BFB-B06F-1C4E1F058A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4124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51978" y="463463"/>
            <a:ext cx="514596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2400" b="1" dirty="0" smtClean="0"/>
              <a:t>삼광 </a:t>
            </a:r>
            <a:r>
              <a:rPr lang="ko-KR" altLang="en-US" sz="2400" b="1" dirty="0" err="1" smtClean="0"/>
              <a:t>중량물</a:t>
            </a:r>
            <a:r>
              <a:rPr lang="ko-KR" altLang="en-US" sz="2400" b="1" dirty="0" smtClean="0"/>
              <a:t> 취급주의 표지 부착 방법</a:t>
            </a:r>
            <a:endParaRPr lang="ko-KR" altLang="en-US" sz="2400" b="1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b="12228"/>
          <a:stretch/>
        </p:blipFill>
        <p:spPr>
          <a:xfrm>
            <a:off x="538621" y="4961734"/>
            <a:ext cx="5451953" cy="4847573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1199" y="2519692"/>
            <a:ext cx="3682652" cy="24420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8308" y="1103920"/>
            <a:ext cx="5567550" cy="1415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1. </a:t>
            </a:r>
            <a:r>
              <a:rPr lang="ko-KR" altLang="en-US" b="1" dirty="0" smtClean="0"/>
              <a:t>대상 중량 </a:t>
            </a:r>
            <a:r>
              <a:rPr lang="en-US" altLang="ko-KR" b="1" dirty="0" smtClean="0"/>
              <a:t>: </a:t>
            </a:r>
            <a:r>
              <a:rPr lang="en-US" altLang="ko-KR" b="1" dirty="0" smtClean="0">
                <a:solidFill>
                  <a:srgbClr val="FF0000"/>
                </a:solidFill>
              </a:rPr>
              <a:t>5kg</a:t>
            </a:r>
            <a:r>
              <a:rPr lang="ko-KR" altLang="en-US" b="1" dirty="0" smtClean="0">
                <a:solidFill>
                  <a:srgbClr val="FF0000"/>
                </a:solidFill>
              </a:rPr>
              <a:t>이상 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endParaRPr lang="en-US" altLang="ko-KR" b="1" dirty="0" smtClean="0"/>
          </a:p>
          <a:p>
            <a:r>
              <a:rPr lang="en-US" altLang="ko-KR" b="1" dirty="0" smtClean="0"/>
              <a:t>2. </a:t>
            </a:r>
            <a:r>
              <a:rPr lang="ko-KR" altLang="en-US" b="1" dirty="0" err="1" smtClean="0"/>
              <a:t>부착장소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: </a:t>
            </a:r>
            <a:r>
              <a:rPr lang="ko-KR" altLang="en-US" b="1" dirty="0" err="1" smtClean="0"/>
              <a:t>중량물이</a:t>
            </a:r>
            <a:r>
              <a:rPr lang="ko-KR" altLang="en-US" b="1" dirty="0" smtClean="0"/>
              <a:t> 있는 모든 장소</a:t>
            </a:r>
            <a:r>
              <a:rPr lang="en-US" altLang="ko-KR" b="1" dirty="0" smtClean="0"/>
              <a:t>, </a:t>
            </a:r>
            <a:r>
              <a:rPr lang="ko-KR" altLang="en-US" b="1" dirty="0" smtClean="0"/>
              <a:t>위치</a:t>
            </a:r>
            <a:endParaRPr lang="en-US" altLang="ko-KR" b="1" dirty="0" smtClean="0"/>
          </a:p>
          <a:p>
            <a:endParaRPr lang="en-US" altLang="ko-KR" b="1" dirty="0" smtClean="0"/>
          </a:p>
          <a:p>
            <a:r>
              <a:rPr lang="en-US" altLang="ko-KR" sz="1400" dirty="0" smtClean="0"/>
              <a:t>    *</a:t>
            </a:r>
            <a:r>
              <a:rPr lang="ko-KR" altLang="en-US" sz="1400" dirty="0" smtClean="0"/>
              <a:t>유사 </a:t>
            </a:r>
            <a:r>
              <a:rPr lang="ko-KR" altLang="en-US" sz="1400" dirty="0" err="1" smtClean="0"/>
              <a:t>중량물이</a:t>
            </a:r>
            <a:r>
              <a:rPr lang="ko-KR" altLang="en-US" sz="1400" dirty="0"/>
              <a:t> </a:t>
            </a:r>
            <a:r>
              <a:rPr lang="ko-KR" altLang="en-US" sz="1400" dirty="0" err="1" smtClean="0"/>
              <a:t>여러장소에</a:t>
            </a:r>
            <a:r>
              <a:rPr lang="ko-KR" altLang="en-US" sz="1400" dirty="0" smtClean="0"/>
              <a:t> 있다면 모든 장소에 </a:t>
            </a:r>
            <a:r>
              <a:rPr lang="ko-KR" altLang="en-US" sz="1400" dirty="0" err="1" smtClean="0"/>
              <a:t>부착하여야합니다</a:t>
            </a:r>
            <a:r>
              <a:rPr lang="en-US" altLang="ko-KR" sz="1400" dirty="0" smtClean="0"/>
              <a:t>.</a:t>
            </a:r>
            <a:endParaRPr lang="ko-KR" altLang="en-US" sz="1400" dirty="0"/>
          </a:p>
        </p:txBody>
      </p:sp>
      <p:sp>
        <p:nvSpPr>
          <p:cNvPr id="3" name="TextBox 2"/>
          <p:cNvSpPr txBox="1"/>
          <p:nvPr/>
        </p:nvSpPr>
        <p:spPr>
          <a:xfrm>
            <a:off x="388308" y="2698484"/>
            <a:ext cx="2916183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3. </a:t>
            </a:r>
            <a:r>
              <a:rPr lang="ko-KR" altLang="en-US" b="1" dirty="0" err="1" smtClean="0"/>
              <a:t>중량물</a:t>
            </a:r>
            <a:r>
              <a:rPr lang="ko-KR" altLang="en-US" b="1" dirty="0" smtClean="0"/>
              <a:t> </a:t>
            </a:r>
            <a:r>
              <a:rPr lang="ko-KR" altLang="en-US" b="1" dirty="0"/>
              <a:t>사진</a:t>
            </a:r>
          </a:p>
          <a:p>
            <a:r>
              <a:rPr lang="en-US" altLang="ko-KR" b="1" dirty="0" smtClean="0"/>
              <a:t>   : </a:t>
            </a:r>
            <a:r>
              <a:rPr lang="ko-KR" altLang="en-US" b="1" dirty="0"/>
              <a:t>비슷한 물품은 예시 </a:t>
            </a:r>
            <a:endParaRPr lang="en-US" altLang="ko-KR" b="1" dirty="0" smtClean="0"/>
          </a:p>
          <a:p>
            <a:r>
              <a:rPr lang="en-US" altLang="ko-KR" b="1" dirty="0"/>
              <a:t> </a:t>
            </a:r>
            <a:r>
              <a:rPr lang="en-US" altLang="ko-KR" b="1" dirty="0" smtClean="0"/>
              <a:t>    </a:t>
            </a:r>
            <a:r>
              <a:rPr lang="ko-KR" altLang="en-US" b="1" dirty="0" smtClean="0"/>
              <a:t>페이지의 </a:t>
            </a:r>
            <a:r>
              <a:rPr lang="ko-KR" altLang="en-US" b="1" dirty="0"/>
              <a:t>사진을 활용할 </a:t>
            </a:r>
            <a:endParaRPr lang="en-US" altLang="ko-KR" b="1" dirty="0" smtClean="0"/>
          </a:p>
          <a:p>
            <a:r>
              <a:rPr lang="en-US" altLang="ko-KR" b="1" dirty="0"/>
              <a:t> </a:t>
            </a:r>
            <a:r>
              <a:rPr lang="en-US" altLang="ko-KR" b="1" dirty="0" smtClean="0"/>
              <a:t>    </a:t>
            </a:r>
            <a:r>
              <a:rPr lang="ko-KR" altLang="en-US" b="1" dirty="0" smtClean="0"/>
              <a:t>수 </a:t>
            </a:r>
            <a:r>
              <a:rPr lang="ko-KR" altLang="en-US" b="1" dirty="0"/>
              <a:t>있습니다</a:t>
            </a:r>
            <a:r>
              <a:rPr lang="en-US" altLang="ko-KR" b="1" dirty="0"/>
              <a:t>.</a:t>
            </a:r>
          </a:p>
          <a:p>
            <a:endParaRPr lang="en-US" altLang="ko-KR" b="1" dirty="0"/>
          </a:p>
          <a:p>
            <a:r>
              <a:rPr lang="en-US" altLang="ko-KR" sz="1400" dirty="0" smtClean="0"/>
              <a:t>    * </a:t>
            </a:r>
            <a:r>
              <a:rPr lang="ko-KR" altLang="en-US" sz="1400" dirty="0"/>
              <a:t>제조사별로 구분하지 말고</a:t>
            </a:r>
            <a:r>
              <a:rPr lang="en-US" altLang="ko-KR" sz="1400" dirty="0"/>
              <a:t>, </a:t>
            </a:r>
            <a:endParaRPr lang="en-US" altLang="ko-KR" sz="1400" dirty="0" smtClean="0"/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   </a:t>
            </a:r>
            <a:r>
              <a:rPr lang="ko-KR" altLang="en-US" sz="1400" dirty="0" smtClean="0"/>
              <a:t>유사한 </a:t>
            </a:r>
            <a:r>
              <a:rPr lang="ko-KR" altLang="en-US" sz="1400" dirty="0"/>
              <a:t>무게와 형태의 제품 </a:t>
            </a:r>
            <a:endParaRPr lang="en-US" altLang="ko-KR" sz="1400" dirty="0" smtClean="0"/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   </a:t>
            </a:r>
            <a:r>
              <a:rPr lang="ko-KR" altLang="en-US" sz="1400" dirty="0" smtClean="0"/>
              <a:t>기준으로 </a:t>
            </a:r>
            <a:r>
              <a:rPr lang="ko-KR" altLang="en-US" sz="1400" dirty="0"/>
              <a:t>사진을 구성하십시오</a:t>
            </a:r>
            <a:r>
              <a:rPr lang="en-US" altLang="ko-KR" sz="1400" dirty="0"/>
              <a:t>.</a:t>
            </a:r>
            <a:endParaRPr lang="en-US" altLang="ko-KR" sz="1400" dirty="0" smtClean="0"/>
          </a:p>
        </p:txBody>
      </p:sp>
    </p:spTree>
    <p:extLst>
      <p:ext uri="{BB962C8B-B14F-4D97-AF65-F5344CB8AC3E}">
        <p14:creationId xmlns:p14="http://schemas.microsoft.com/office/powerpoint/2010/main" val="2170067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50" y="288099"/>
            <a:ext cx="6578242" cy="90377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84371" y="2205569"/>
            <a:ext cx="682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 smtClean="0"/>
              <a:t>18</a:t>
            </a:r>
            <a:endParaRPr lang="ko-KR" altLang="en-US" sz="3200" dirty="0"/>
          </a:p>
        </p:txBody>
      </p:sp>
      <p:sp>
        <p:nvSpPr>
          <p:cNvPr id="5" name="타원 4"/>
          <p:cNvSpPr/>
          <p:nvPr/>
        </p:nvSpPr>
        <p:spPr>
          <a:xfrm>
            <a:off x="4144633" y="3281819"/>
            <a:ext cx="1126845" cy="1152395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4401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50" y="288099"/>
            <a:ext cx="6578242" cy="90377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984371" y="2205569"/>
            <a:ext cx="682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 smtClean="0"/>
              <a:t>8</a:t>
            </a:r>
            <a:endParaRPr lang="ko-KR" altLang="en-US" sz="3200" dirty="0"/>
          </a:p>
        </p:txBody>
      </p:sp>
      <p:sp>
        <p:nvSpPr>
          <p:cNvPr id="5" name="타원 4"/>
          <p:cNvSpPr/>
          <p:nvPr/>
        </p:nvSpPr>
        <p:spPr>
          <a:xfrm>
            <a:off x="4144633" y="3281819"/>
            <a:ext cx="1126845" cy="1152395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7830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3495783"/>
              </p:ext>
            </p:extLst>
          </p:nvPr>
        </p:nvGraphicFramePr>
        <p:xfrm>
          <a:off x="316282" y="303132"/>
          <a:ext cx="6197252" cy="93669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8626">
                  <a:extLst>
                    <a:ext uri="{9D8B030D-6E8A-4147-A177-3AD203B41FA5}">
                      <a16:colId xmlns:a16="http://schemas.microsoft.com/office/drawing/2014/main" val="2126948545"/>
                    </a:ext>
                  </a:extLst>
                </a:gridCol>
                <a:gridCol w="3098626">
                  <a:extLst>
                    <a:ext uri="{9D8B030D-6E8A-4147-A177-3AD203B41FA5}">
                      <a16:colId xmlns:a16="http://schemas.microsoft.com/office/drawing/2014/main" val="393482959"/>
                    </a:ext>
                  </a:extLst>
                </a:gridCol>
              </a:tblGrid>
              <a:tr h="81732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4400" dirty="0" err="1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중량물</a:t>
                      </a:r>
                      <a:r>
                        <a:rPr lang="ko-KR" altLang="en-US" sz="4400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4400" dirty="0" err="1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안내표시</a:t>
                      </a:r>
                      <a:endParaRPr lang="ko-KR" altLang="en-US" sz="44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2188386"/>
                  </a:ext>
                </a:extLst>
              </a:tr>
              <a:tr h="5438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 err="1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중량물</a:t>
                      </a:r>
                      <a:r>
                        <a:rPr lang="ko-KR" altLang="en-US" sz="2000" b="1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사진</a:t>
                      </a:r>
                      <a:endParaRPr lang="ko-KR" altLang="en-US" sz="2000" b="1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중량</a:t>
                      </a:r>
                      <a:endParaRPr lang="ko-KR" altLang="en-US" sz="2000" b="1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6082613"/>
                  </a:ext>
                </a:extLst>
              </a:tr>
              <a:tr h="271292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그림 너비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en-US" altLang="ko-KR" baseline="0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baseline="0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높이 </a:t>
                      </a:r>
                      <a:r>
                        <a:rPr lang="en-US" altLang="ko-KR" baseline="0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7cm</a:t>
                      </a:r>
                    </a:p>
                    <a:p>
                      <a:pPr algn="ctr" latinLnBrk="1"/>
                      <a:r>
                        <a:rPr lang="ko-KR" altLang="en-US" b="1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가로세로비율고정 해제</a:t>
                      </a:r>
                      <a:endParaRPr lang="ko-KR" altLang="en-US" b="1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20kg</a:t>
                      </a:r>
                      <a:endParaRPr lang="ko-KR" altLang="en-US" sz="32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4140679"/>
                  </a:ext>
                </a:extLst>
              </a:tr>
              <a:tr h="40083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 err="1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중량물</a:t>
                      </a:r>
                      <a:r>
                        <a:rPr lang="ko-KR" altLang="en-US" sz="1600" b="1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600" b="1" dirty="0" err="1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취급요령</a:t>
                      </a:r>
                      <a:endParaRPr lang="ko-KR" altLang="en-US" sz="1600" b="1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6366218"/>
                  </a:ext>
                </a:extLst>
              </a:tr>
              <a:tr h="4759891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800" b="1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1. </a:t>
                      </a:r>
                      <a:r>
                        <a:rPr lang="ko-KR" altLang="en-US" sz="1800" b="1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작업 전 확인</a:t>
                      </a:r>
                    </a:p>
                    <a:p>
                      <a:pPr latinLnBrk="1"/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dirty="0" err="1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중량물의</a:t>
                      </a:r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무게와 크기를 확인한다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운반 동선에 장애물이 없는지 확인한다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미끄러짐 방지를 위해 장갑 등 보호구를 착용한다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혼자 운반이 가능한 무게인지 판단하고 필요 시 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인 이상 작업한다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endParaRPr lang="en-US" altLang="ko-KR" dirty="0" smtClean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b="1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800" b="1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800" b="1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들어올릴 때</a:t>
                      </a:r>
                    </a:p>
                    <a:p>
                      <a:pPr latinLnBrk="1"/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물건에 몸을 최대한 가까이 위치시킨다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허리를 굽히지 말고 무릎을 굽혀 앉는다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허리는 곧게 펴고 다리 힘으로 들어 올린다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물건은 몸 가까이 붙여서 들도록 한다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endParaRPr lang="en-US" altLang="ko-KR" dirty="0" smtClean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b="1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800" b="1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3. </a:t>
                      </a:r>
                      <a:r>
                        <a:rPr lang="ko-KR" altLang="en-US" sz="1800" b="1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내려놓을 때</a:t>
                      </a:r>
                    </a:p>
                    <a:p>
                      <a:pPr latinLnBrk="1"/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무릎을 굽혀 천천히 내려놓는다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손이나 발이 끼이지 않도록 주의한다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불안정한 위치에 적재하지 않는다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endParaRPr lang="en-US" altLang="ko-KR" dirty="0" smtClean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b="1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800" b="1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4. </a:t>
                      </a:r>
                      <a:r>
                        <a:rPr lang="ko-KR" altLang="en-US" sz="1800" b="1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작업 금지사항</a:t>
                      </a:r>
                    </a:p>
                    <a:p>
                      <a:pPr latinLnBrk="1"/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허리를 굽힌 상태에서 물건을 들어올리는 행위</a:t>
                      </a:r>
                    </a:p>
                    <a:p>
                      <a:pPr latinLnBrk="1"/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몸을 비틀어 </a:t>
                      </a:r>
                      <a:r>
                        <a:rPr lang="ko-KR" altLang="en-US" dirty="0" err="1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중량물을</a:t>
                      </a:r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이동하는 행위</a:t>
                      </a:r>
                    </a:p>
                    <a:p>
                      <a:pPr latinLnBrk="1"/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혼자 무리하게 </a:t>
                      </a:r>
                      <a:r>
                        <a:rPr lang="ko-KR" altLang="en-US" dirty="0" err="1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중량물을</a:t>
                      </a:r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운반하는 행위</a:t>
                      </a:r>
                    </a:p>
                    <a:p>
                      <a:pPr latinLnBrk="1"/>
                      <a:endParaRPr lang="ko-KR" altLang="en-US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8244017"/>
                  </a:ext>
                </a:extLst>
              </a:tr>
            </a:tbl>
          </a:graphicData>
        </a:graphic>
      </p:graphicFrame>
      <p:pic>
        <p:nvPicPr>
          <p:cNvPr id="3" name="그림 2"/>
          <p:cNvPicPr>
            <a:picLocks/>
          </p:cNvPicPr>
          <p:nvPr/>
        </p:nvPicPr>
        <p:blipFill rotWithShape="1">
          <a:blip r:embed="rId2"/>
          <a:srcRect l="8574" t="6346" r="11693" b="4849"/>
          <a:stretch/>
        </p:blipFill>
        <p:spPr>
          <a:xfrm>
            <a:off x="649704" y="1756610"/>
            <a:ext cx="2520000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696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0739220"/>
              </p:ext>
            </p:extLst>
          </p:nvPr>
        </p:nvGraphicFramePr>
        <p:xfrm>
          <a:off x="316282" y="303132"/>
          <a:ext cx="6197252" cy="93669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8626">
                  <a:extLst>
                    <a:ext uri="{9D8B030D-6E8A-4147-A177-3AD203B41FA5}">
                      <a16:colId xmlns:a16="http://schemas.microsoft.com/office/drawing/2014/main" val="2126948545"/>
                    </a:ext>
                  </a:extLst>
                </a:gridCol>
                <a:gridCol w="3098626">
                  <a:extLst>
                    <a:ext uri="{9D8B030D-6E8A-4147-A177-3AD203B41FA5}">
                      <a16:colId xmlns:a16="http://schemas.microsoft.com/office/drawing/2014/main" val="393482959"/>
                    </a:ext>
                  </a:extLst>
                </a:gridCol>
              </a:tblGrid>
              <a:tr h="81732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4400" dirty="0" err="1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중량물</a:t>
                      </a:r>
                      <a:r>
                        <a:rPr lang="ko-KR" altLang="en-US" sz="4400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4400" dirty="0" err="1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안내표시</a:t>
                      </a:r>
                      <a:endParaRPr lang="ko-KR" altLang="en-US" sz="44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2188386"/>
                  </a:ext>
                </a:extLst>
              </a:tr>
              <a:tr h="5438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 err="1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중량물</a:t>
                      </a:r>
                      <a:r>
                        <a:rPr lang="ko-KR" altLang="en-US" sz="2000" b="1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사진</a:t>
                      </a:r>
                      <a:endParaRPr lang="ko-KR" altLang="en-US" sz="2000" b="1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중량</a:t>
                      </a:r>
                      <a:endParaRPr lang="ko-KR" altLang="en-US" sz="2000" b="1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6082613"/>
                  </a:ext>
                </a:extLst>
              </a:tr>
              <a:tr h="271292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그림 너비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en-US" altLang="ko-KR" baseline="0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baseline="0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높이 </a:t>
                      </a:r>
                      <a:r>
                        <a:rPr lang="en-US" altLang="ko-KR" baseline="0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7cm</a:t>
                      </a:r>
                    </a:p>
                    <a:p>
                      <a:pPr algn="ctr" latinLnBrk="1"/>
                      <a:r>
                        <a:rPr lang="ko-KR" altLang="en-US" b="1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가로세로비율고정 해제</a:t>
                      </a:r>
                      <a:endParaRPr lang="ko-KR" altLang="en-US" b="1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18kg</a:t>
                      </a:r>
                      <a:endParaRPr lang="ko-KR" altLang="en-US" sz="32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4140679"/>
                  </a:ext>
                </a:extLst>
              </a:tr>
              <a:tr h="40083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 err="1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중량물</a:t>
                      </a:r>
                      <a:r>
                        <a:rPr lang="ko-KR" altLang="en-US" sz="1600" b="1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600" b="1" dirty="0" err="1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취급요령</a:t>
                      </a:r>
                      <a:endParaRPr lang="ko-KR" altLang="en-US" sz="1600" b="1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6366218"/>
                  </a:ext>
                </a:extLst>
              </a:tr>
              <a:tr h="4759891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800" b="1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1. </a:t>
                      </a:r>
                      <a:r>
                        <a:rPr lang="ko-KR" altLang="en-US" sz="1800" b="1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작업 전 확인</a:t>
                      </a:r>
                    </a:p>
                    <a:p>
                      <a:pPr latinLnBrk="1"/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dirty="0" err="1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중량물의</a:t>
                      </a:r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무게와 크기를 확인한다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운반 동선에 장애물이 없는지 확인한다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미끄러짐 방지를 위해 장갑 등 보호구를 착용한다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혼자 운반이 가능한 무게인지 판단하고 필요 시 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인 이상 작업한다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endParaRPr lang="en-US" altLang="ko-KR" dirty="0" smtClean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b="1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800" b="1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800" b="1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들어올릴 때</a:t>
                      </a:r>
                    </a:p>
                    <a:p>
                      <a:pPr latinLnBrk="1"/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물건에 몸을 최대한 가까이 위치시킨다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허리를 굽히지 말고 무릎을 굽혀 앉는다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허리는 곧게 펴고 다리 힘으로 들어 올린다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물건은 몸 가까이 붙여서 들도록 한다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endParaRPr lang="en-US" altLang="ko-KR" dirty="0" smtClean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b="1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800" b="1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3. </a:t>
                      </a:r>
                      <a:r>
                        <a:rPr lang="ko-KR" altLang="en-US" sz="1800" b="1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내려놓을 때</a:t>
                      </a:r>
                    </a:p>
                    <a:p>
                      <a:pPr latinLnBrk="1"/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무릎을 굽혀 천천히 내려놓는다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손이나 발이 끼이지 않도록 주의한다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불안정한 위치에 적재하지 않는다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endParaRPr lang="en-US" altLang="ko-KR" dirty="0" smtClean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b="1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800" b="1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4. </a:t>
                      </a:r>
                      <a:r>
                        <a:rPr lang="ko-KR" altLang="en-US" sz="1800" b="1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작업 금지사항</a:t>
                      </a:r>
                    </a:p>
                    <a:p>
                      <a:pPr latinLnBrk="1"/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허리를 굽힌 상태에서 물건을 들어올리는 행위</a:t>
                      </a:r>
                    </a:p>
                    <a:p>
                      <a:pPr latinLnBrk="1"/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몸을 비틀어 </a:t>
                      </a:r>
                      <a:r>
                        <a:rPr lang="ko-KR" altLang="en-US" dirty="0" err="1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중량물을</a:t>
                      </a:r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이동하는 행위</a:t>
                      </a:r>
                    </a:p>
                    <a:p>
                      <a:pPr latinLnBrk="1"/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혼자 무리하게 </a:t>
                      </a:r>
                      <a:r>
                        <a:rPr lang="ko-KR" altLang="en-US" dirty="0" err="1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중량물을</a:t>
                      </a:r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운반하는 행위</a:t>
                      </a:r>
                    </a:p>
                    <a:p>
                      <a:pPr latinLnBrk="1"/>
                      <a:endParaRPr lang="ko-KR" altLang="en-US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8244017"/>
                  </a:ext>
                </a:extLst>
              </a:tr>
            </a:tbl>
          </a:graphicData>
        </a:graphic>
      </p:graphicFrame>
      <p:pic>
        <p:nvPicPr>
          <p:cNvPr id="2050" name="Picture 2" descr="https://www.duksanchemical.com/data/item/0005-18L/thumb-duksan_steel_can_600x595.jpg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901" y="1780422"/>
            <a:ext cx="2520000" cy="25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0869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6883267"/>
              </p:ext>
            </p:extLst>
          </p:nvPr>
        </p:nvGraphicFramePr>
        <p:xfrm>
          <a:off x="316282" y="303132"/>
          <a:ext cx="6197252" cy="93669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8626">
                  <a:extLst>
                    <a:ext uri="{9D8B030D-6E8A-4147-A177-3AD203B41FA5}">
                      <a16:colId xmlns:a16="http://schemas.microsoft.com/office/drawing/2014/main" val="2126948545"/>
                    </a:ext>
                  </a:extLst>
                </a:gridCol>
                <a:gridCol w="3098626">
                  <a:extLst>
                    <a:ext uri="{9D8B030D-6E8A-4147-A177-3AD203B41FA5}">
                      <a16:colId xmlns:a16="http://schemas.microsoft.com/office/drawing/2014/main" val="393482959"/>
                    </a:ext>
                  </a:extLst>
                </a:gridCol>
              </a:tblGrid>
              <a:tr h="81732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4400" dirty="0" err="1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중량물</a:t>
                      </a:r>
                      <a:r>
                        <a:rPr lang="ko-KR" altLang="en-US" sz="4400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4400" dirty="0" err="1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안내표시</a:t>
                      </a:r>
                      <a:endParaRPr lang="ko-KR" altLang="en-US" sz="44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2188386"/>
                  </a:ext>
                </a:extLst>
              </a:tr>
              <a:tr h="5438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 err="1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중량물</a:t>
                      </a:r>
                      <a:r>
                        <a:rPr lang="ko-KR" altLang="en-US" sz="2000" b="1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사진</a:t>
                      </a:r>
                      <a:endParaRPr lang="ko-KR" altLang="en-US" sz="2000" b="1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중량</a:t>
                      </a:r>
                      <a:endParaRPr lang="ko-KR" altLang="en-US" sz="2000" b="1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6082613"/>
                  </a:ext>
                </a:extLst>
              </a:tr>
              <a:tr h="271292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그림 너비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en-US" altLang="ko-KR" baseline="0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baseline="0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높이 </a:t>
                      </a:r>
                      <a:r>
                        <a:rPr lang="en-US" altLang="ko-KR" baseline="0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7cm</a:t>
                      </a:r>
                    </a:p>
                    <a:p>
                      <a:pPr algn="ctr" latinLnBrk="1"/>
                      <a:r>
                        <a:rPr lang="ko-KR" altLang="en-US" b="1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가로세로비율고정 해제</a:t>
                      </a:r>
                      <a:endParaRPr lang="ko-KR" altLang="en-US" b="1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20kg</a:t>
                      </a:r>
                      <a:endParaRPr lang="ko-KR" altLang="en-US" sz="32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4140679"/>
                  </a:ext>
                </a:extLst>
              </a:tr>
              <a:tr h="40083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 err="1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중량물</a:t>
                      </a:r>
                      <a:r>
                        <a:rPr lang="ko-KR" altLang="en-US" sz="1600" b="1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600" b="1" dirty="0" err="1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취급요령</a:t>
                      </a:r>
                      <a:endParaRPr lang="ko-KR" altLang="en-US" sz="1600" b="1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6366218"/>
                  </a:ext>
                </a:extLst>
              </a:tr>
              <a:tr h="4759891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800" b="1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1. </a:t>
                      </a:r>
                      <a:r>
                        <a:rPr lang="ko-KR" altLang="en-US" sz="1800" b="1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작업 전 확인</a:t>
                      </a:r>
                    </a:p>
                    <a:p>
                      <a:pPr latinLnBrk="1"/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dirty="0" err="1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중량물의</a:t>
                      </a:r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무게와 크기를 확인한다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운반 동선에 장애물이 없는지 확인한다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미끄러짐 방지를 위해 장갑 등 보호구를 착용한다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혼자 운반이 가능한 무게인지 판단하고 필요 시 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인 이상 작업한다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endParaRPr lang="en-US" altLang="ko-KR" dirty="0" smtClean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b="1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800" b="1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800" b="1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들어올릴 때</a:t>
                      </a:r>
                    </a:p>
                    <a:p>
                      <a:pPr latinLnBrk="1"/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물건에 몸을 최대한 가까이 위치시킨다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허리를 굽히지 말고 무릎을 굽혀 앉는다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허리는 곧게 펴고 다리 힘으로 들어 올린다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물건은 몸 가까이 붙여서 들도록 한다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endParaRPr lang="en-US" altLang="ko-KR" dirty="0" smtClean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b="1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800" b="1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3. </a:t>
                      </a:r>
                      <a:r>
                        <a:rPr lang="ko-KR" altLang="en-US" sz="1800" b="1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내려놓을 때</a:t>
                      </a:r>
                    </a:p>
                    <a:p>
                      <a:pPr latinLnBrk="1"/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무릎을 굽혀 천천히 내려놓는다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손이나 발이 끼이지 않도록 주의한다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불안정한 위치에 적재하지 않는다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endParaRPr lang="en-US" altLang="ko-KR" dirty="0" smtClean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b="1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800" b="1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4. </a:t>
                      </a:r>
                      <a:r>
                        <a:rPr lang="ko-KR" altLang="en-US" sz="1800" b="1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작업 금지사항</a:t>
                      </a:r>
                    </a:p>
                    <a:p>
                      <a:pPr latinLnBrk="1"/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허리를 굽힌 상태에서 물건을 들어올리는 행위</a:t>
                      </a:r>
                    </a:p>
                    <a:p>
                      <a:pPr latinLnBrk="1"/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몸을 비틀어 </a:t>
                      </a:r>
                      <a:r>
                        <a:rPr lang="ko-KR" altLang="en-US" dirty="0" err="1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중량물을</a:t>
                      </a:r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이동하는 행위</a:t>
                      </a:r>
                    </a:p>
                    <a:p>
                      <a:pPr latinLnBrk="1"/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혼자 무리하게 </a:t>
                      </a:r>
                      <a:r>
                        <a:rPr lang="ko-KR" altLang="en-US" dirty="0" err="1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중량물을</a:t>
                      </a:r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운반하는 행위</a:t>
                      </a:r>
                    </a:p>
                    <a:p>
                      <a:pPr latinLnBrk="1"/>
                      <a:endParaRPr lang="ko-KR" altLang="en-US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8244017"/>
                  </a:ext>
                </a:extLst>
              </a:tr>
            </a:tbl>
          </a:graphicData>
        </a:graphic>
      </p:graphicFrame>
      <p:pic>
        <p:nvPicPr>
          <p:cNvPr id="1026" name="Picture 2" descr="https://search.pstatic.net/sunny/?src=https%3A%2F%2Fphoto3.enuri.info%2Fdata%2Fimages%2Fservice%2Fdnw%2Fmaster%2F137848000%2F137848817.jpg&amp;type=sc960_83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901" y="1768640"/>
            <a:ext cx="2520000" cy="25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5777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3722719"/>
              </p:ext>
            </p:extLst>
          </p:nvPr>
        </p:nvGraphicFramePr>
        <p:xfrm>
          <a:off x="316282" y="303132"/>
          <a:ext cx="6197252" cy="93669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8626">
                  <a:extLst>
                    <a:ext uri="{9D8B030D-6E8A-4147-A177-3AD203B41FA5}">
                      <a16:colId xmlns:a16="http://schemas.microsoft.com/office/drawing/2014/main" val="2126948545"/>
                    </a:ext>
                  </a:extLst>
                </a:gridCol>
                <a:gridCol w="3098626">
                  <a:extLst>
                    <a:ext uri="{9D8B030D-6E8A-4147-A177-3AD203B41FA5}">
                      <a16:colId xmlns:a16="http://schemas.microsoft.com/office/drawing/2014/main" val="393482959"/>
                    </a:ext>
                  </a:extLst>
                </a:gridCol>
              </a:tblGrid>
              <a:tr h="81732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4400" dirty="0" err="1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중량물</a:t>
                      </a:r>
                      <a:r>
                        <a:rPr lang="ko-KR" altLang="en-US" sz="4400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4400" dirty="0" err="1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안내표시</a:t>
                      </a:r>
                      <a:endParaRPr lang="ko-KR" altLang="en-US" sz="44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2188386"/>
                  </a:ext>
                </a:extLst>
              </a:tr>
              <a:tr h="5438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 err="1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중량물</a:t>
                      </a:r>
                      <a:r>
                        <a:rPr lang="ko-KR" altLang="en-US" sz="2000" b="1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사진</a:t>
                      </a:r>
                      <a:endParaRPr lang="ko-KR" altLang="en-US" sz="2000" b="1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1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중량</a:t>
                      </a:r>
                      <a:endParaRPr lang="ko-KR" altLang="en-US" sz="2000" b="1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6082613"/>
                  </a:ext>
                </a:extLst>
              </a:tr>
              <a:tr h="271292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그림 너비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en-US" altLang="ko-KR" baseline="0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baseline="0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높이 </a:t>
                      </a:r>
                      <a:r>
                        <a:rPr lang="en-US" altLang="ko-KR" baseline="0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7cm</a:t>
                      </a:r>
                    </a:p>
                    <a:p>
                      <a:pPr algn="ctr" latinLnBrk="1"/>
                      <a:r>
                        <a:rPr lang="ko-KR" altLang="en-US" b="1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가로세로비율고정 해제</a:t>
                      </a:r>
                      <a:endParaRPr lang="ko-KR" altLang="en-US" b="1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8kg</a:t>
                      </a:r>
                      <a:endParaRPr lang="ko-KR" altLang="en-US" sz="3200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4140679"/>
                  </a:ext>
                </a:extLst>
              </a:tr>
              <a:tr h="40083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 err="1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중량물</a:t>
                      </a:r>
                      <a:r>
                        <a:rPr lang="ko-KR" altLang="en-US" sz="1600" b="1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600" b="1" dirty="0" err="1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취급요령</a:t>
                      </a:r>
                      <a:endParaRPr lang="ko-KR" altLang="en-US" sz="1600" b="1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6366218"/>
                  </a:ext>
                </a:extLst>
              </a:tr>
              <a:tr h="4759891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800" b="1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1. </a:t>
                      </a:r>
                      <a:r>
                        <a:rPr lang="ko-KR" altLang="en-US" sz="1800" b="1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작업 전 확인</a:t>
                      </a:r>
                    </a:p>
                    <a:p>
                      <a:pPr latinLnBrk="1"/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dirty="0" err="1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중량물의</a:t>
                      </a:r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무게와 크기를 확인한다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운반 동선에 장애물이 없는지 확인한다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미끄러짐 방지를 위해 장갑 등 보호구를 착용한다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혼자 운반이 가능한 무게인지 판단하고 필요 시 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인 이상 작업한다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endParaRPr lang="en-US" altLang="ko-KR" dirty="0" smtClean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b="1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800" b="1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800" b="1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들어올릴 때</a:t>
                      </a:r>
                    </a:p>
                    <a:p>
                      <a:pPr latinLnBrk="1"/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물건에 몸을 최대한 가까이 위치시킨다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허리를 굽히지 말고 무릎을 굽혀 앉는다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허리는 곧게 펴고 다리 힘으로 들어 올린다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물건은 몸 가까이 붙여서 들도록 한다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endParaRPr lang="en-US" altLang="ko-KR" dirty="0" smtClean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b="1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800" b="1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3. </a:t>
                      </a:r>
                      <a:r>
                        <a:rPr lang="ko-KR" altLang="en-US" sz="1800" b="1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내려놓을 때</a:t>
                      </a:r>
                    </a:p>
                    <a:p>
                      <a:pPr latinLnBrk="1"/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무릎을 굽혀 천천히 내려놓는다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손이나 발이 끼이지 않도록 주의한다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불안정한 위치에 적재하지 않는다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latinLnBrk="1"/>
                      <a:endParaRPr lang="en-US" altLang="ko-KR" dirty="0" smtClean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b="1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800" b="1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4. </a:t>
                      </a:r>
                      <a:r>
                        <a:rPr lang="ko-KR" altLang="en-US" sz="1800" b="1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작업 금지사항</a:t>
                      </a:r>
                    </a:p>
                    <a:p>
                      <a:pPr latinLnBrk="1"/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허리를 굽힌 상태에서 물건을 들어올리는 행위</a:t>
                      </a:r>
                    </a:p>
                    <a:p>
                      <a:pPr latinLnBrk="1"/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몸을 비틀어 </a:t>
                      </a:r>
                      <a:r>
                        <a:rPr lang="ko-KR" altLang="en-US" dirty="0" err="1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중량물을</a:t>
                      </a:r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이동하는 행위</a:t>
                      </a:r>
                    </a:p>
                    <a:p>
                      <a:pPr latinLnBrk="1"/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혼자 무리하게 </a:t>
                      </a:r>
                      <a:r>
                        <a:rPr lang="ko-KR" altLang="en-US" dirty="0" err="1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중량물을</a:t>
                      </a:r>
                      <a:r>
                        <a:rPr lang="ko-KR" altLang="en-US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운반하는 행위</a:t>
                      </a:r>
                    </a:p>
                    <a:p>
                      <a:pPr latinLnBrk="1"/>
                      <a:endParaRPr lang="ko-KR" altLang="en-US" dirty="0">
                        <a:solidFill>
                          <a:sysClr val="windowText" lastClr="00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8244017"/>
                  </a:ext>
                </a:extLst>
              </a:tr>
            </a:tbl>
          </a:graphicData>
        </a:graphic>
      </p:graphicFrame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062" y="1779159"/>
            <a:ext cx="2949718" cy="2480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956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428</TotalTime>
  <Words>688</Words>
  <Application>Microsoft Office PowerPoint</Application>
  <PresentationFormat>A4 용지(210x297mm)</PresentationFormat>
  <Paragraphs>128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맑은 고딕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SAMKWANG</dc:creator>
  <cp:lastModifiedBy>SAMKWNAG</cp:lastModifiedBy>
  <cp:revision>17</cp:revision>
  <cp:lastPrinted>2026-03-24T07:58:00Z</cp:lastPrinted>
  <dcterms:created xsi:type="dcterms:W3CDTF">2026-03-10T01:03:39Z</dcterms:created>
  <dcterms:modified xsi:type="dcterms:W3CDTF">2026-03-24T07:59:43Z</dcterms:modified>
</cp:coreProperties>
</file>